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d5cbcf0-aeb3-4fc7-f663-e9db0f6d14d5}">
          <p14:sldIdLst>
            <p14:sldId id="256"/>
            <p14:sldId id="257"/>
          </p14:sldIdLst>
        </p14:section>
        <p14:section name="Data" id="{197f0eac-b684-1404-8d35-1ce7dae9f404}">
          <p14:sldIdLst>
            <p14:sldId id="258"/>
            <p14:sldId id="259"/>
            <p14:sldId id="260"/>
          </p14:sldIdLst>
        </p14:section>
        <p14:section name="Modelling" id="{36194ed1-c99b-4bc9-f74a-11449580f2fd}">
          <p14:sldIdLst>
            <p14:sldId id="261"/>
            <p14:sldId id="262"/>
          </p14:sldIdLst>
        </p14:section>
        <p14:section name="Recommendation" id="{dd1d2c35-5f8e-84fc-5c31-3523f684e1b4}">
          <p14:sldIdLst>
            <p14:sldId id="263"/>
            <p14:sldId id="264"/>
            <p14:sldId id="265"/>
          </p14:sldIdLst>
        </p14:section>
        <p14:section name="Next steps" id="{3c874b38-8bf7-2789-6840-dff492dc8394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+mn-lt"/>
              </a:rPr>
              <a:t>Cross-validated ROC AUC (random = 0.5)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 AUC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Gradient boosting</c:v>
                  </c:pt>
                  <c:pt idx="1">
                    <c:v>Random forest</c:v>
                  </c:pt>
                  <c:pt idx="2">
                    <c:v>Logistic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0.806</c:v>
                </c:pt>
                <c:pt idx="1">
                  <c:v>0.81</c:v>
                </c:pt>
                <c:pt idx="2">
                  <c:v>0.822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+mn-lt"/>
              </a:rPr>
              <a:t>Share of calls reaching a stroke patient, by block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 5%</c:v>
                  </c:pt>
                  <c:pt idx="1">
                    <c:v>5–10%</c:v>
                  </c:pt>
                  <c:pt idx="2">
                    <c:v>10–20%</c:v>
                  </c:pt>
                  <c:pt idx="3">
                    <c:v>20–30%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</c:v>
                </c:pt>
                <c:pt idx="1">
                  <c:v>0.14</c:v>
                </c:pt>
                <c:pt idx="2">
                  <c:v>0.13</c:v>
                </c:pt>
                <c:pt idx="3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goal: help care coordinators decide who to contact first for stroke-prevention outreach, given limited capacity. Mention you'll cover the data, the model, a recommendation, and what you'd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limited capacity means we need to rank, not just classify. Walk through the five steps briefly. Call out the adults-only assumption: the brief says to make reasonable assumptions and write them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4.9% and why accuracy is misleading. Then the cleaning log: each decision has a reason. Mention missing BMI was filled inside the pipeline using the training data only, to avoid leakage. After cleaning: 4,253 adults, 247 strokes (5.8%).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Stroke rate rises steadily with age and jumps sharply in the 70+ group. Distinguish rate (how risky a group is) from count (where most cases are): 181 of 247 strokes are in the 60+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Hypertension, heart disease and missing BMI stand out. Explain confounding with ever_married: married adults have a median age of 54 vs 28. Smoking showing little effect is surprising medically; likely age confounding plus limited data (30% unknown, no amount). Never_worked has only 5 adults, too few to read anything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cross-validation in one line: five rounds of train-on-most, test-on-the-rest, on training data only. The gaps between models (about 0.01) are smaller than the fold-to-fold spread (about 0.02), so it's a tie. Mention overfitting: the default forest memorised the training patients. Constraining it helped but it still didn't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test-set numbers come from the one time we used the sealed test set. Right = pushes risk up. Note ever_married is now near zero: once age is in the model it doesn't matter, which confirms the confounding finding. Coefficient sizes aren't directly comparable between 0/1 flags and scaled numbers. Age's full effect is about 4x bigger than the missing-BMI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calling the top 20% reaches about 63% of stroke patients; random calling would reach 20%. Right: the trade-off. Each block of calls is less productive than the last. By the 20-30% block, the model is no better than calling at random. That's the natural limit for model-driven outreach.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to say out loud: if the team can reach about 10% of patients a month, they'd reach roughly 4 in 10 stroke-risk patients, with about 1 in 4 calls being to someone who had a stroke. That's 4x better than random. The threshold is set by capacity; the matching probability cutoffs are about 0.20 (top 5%), 0.15 (10%) and 0.09 (20%). Trade-off: more calls reach more patients but each call is less likely to be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these are the questions I'd take to the data owner first. The leakage check is a strong point: the model doesn't depend on the flag. If in doubt, deploy the version without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richer data: three model types all hit about 0.82, which points to a data ceiling, not a model one. More tuning would give diminishing returns. The full parking lot, with what/why/how for each item, is in parking_lot.md.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Who should we call first?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stroke-risk model to prioritise prevention outreach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[Your name]  · 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ranking problem: put the highest-risk patients first</a:t>
            </a:r>
            <a:endParaRPr lang="en-US" sz="2400" dirty="0"/>
          </a:p>
        </p:txBody>
      </p:sp>
      <p:sp>
        <p:nvSpPr>
          <p:cNvPr id="3" name="step 1 circle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1 heading"/>
          <p:cNvSpPr txBox="1"/>
          <p:nvPr/>
        </p:nvSpPr>
        <p:spPr>
          <a:xfrm>
            <a:off x="109728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</a:t>
            </a:r>
            <a:endParaRPr lang="en-US" sz="1500" dirty="0"/>
          </a:p>
        </p:txBody>
      </p:sp>
      <p:sp>
        <p:nvSpPr>
          <p:cNvPr id="6" name="step 1 detail"/>
          <p:cNvSpPr txBox="1"/>
          <p:nvPr/>
        </p:nvSpPr>
        <p:spPr>
          <a:xfrm>
            <a:off x="1097280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data, find and fix quality issues</a:t>
            </a:r>
            <a:endParaRPr lang="en-US" sz="1200" dirty="0"/>
          </a:p>
        </p:txBody>
      </p:sp>
      <p:sp>
        <p:nvSpPr>
          <p:cNvPr id="7" name="step 2 circle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5486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2 heading"/>
          <p:cNvSpPr txBox="1"/>
          <p:nvPr/>
        </p:nvSpPr>
        <p:spPr>
          <a:xfrm>
            <a:off x="1097280" y="17282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500" dirty="0"/>
          </a:p>
        </p:txBody>
      </p:sp>
      <p:sp>
        <p:nvSpPr>
          <p:cNvPr id="10" name="step 2 detail"/>
          <p:cNvSpPr txBox="1"/>
          <p:nvPr/>
        </p:nvSpPr>
        <p:spPr>
          <a:xfrm>
            <a:off x="1097280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logistic regression</a:t>
            </a:r>
            <a:endParaRPr lang="en-US" sz="1200" dirty="0"/>
          </a:p>
        </p:txBody>
      </p:sp>
      <p:sp>
        <p:nvSpPr>
          <p:cNvPr id="11" name="step 3 circle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3 heading"/>
          <p:cNvSpPr txBox="1"/>
          <p:nvPr/>
        </p:nvSpPr>
        <p:spPr>
          <a:xfrm>
            <a:off x="1097280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models</a:t>
            </a:r>
            <a:endParaRPr lang="en-US" sz="1500" dirty="0"/>
          </a:p>
        </p:txBody>
      </p:sp>
      <p:sp>
        <p:nvSpPr>
          <p:cNvPr id="14" name="step 3 detail"/>
          <p:cNvSpPr txBox="1"/>
          <p:nvPr/>
        </p:nvSpPr>
        <p:spPr>
          <a:xfrm>
            <a:off x="109728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gradient boosting, compared fairly</a:t>
            </a:r>
            <a:endParaRPr lang="en-US" sz="1200" dirty="0"/>
          </a:p>
        </p:txBody>
      </p:sp>
      <p:sp>
        <p:nvSpPr>
          <p:cNvPr id="15" name="step 4 circle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5486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 4 heading"/>
          <p:cNvSpPr txBox="1"/>
          <p:nvPr/>
        </p:nvSpPr>
        <p:spPr>
          <a:xfrm>
            <a:off x="1097280" y="2935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8" name="step 4 detail"/>
          <p:cNvSpPr txBox="1"/>
          <p:nvPr/>
        </p:nvSpPr>
        <p:spPr>
          <a:xfrm>
            <a:off x="1097280" y="3191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call volume and estimate the impact</a:t>
            </a:r>
            <a:endParaRPr lang="en-US" sz="1200" dirty="0"/>
          </a:p>
        </p:txBody>
      </p:sp>
      <p:sp>
        <p:nvSpPr>
          <p:cNvPr id="19" name="step 5 circle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step 5 heading"/>
          <p:cNvSpPr txBox="1"/>
          <p:nvPr/>
        </p:nvSpPr>
        <p:spPr>
          <a:xfrm>
            <a:off x="109728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2" name="step 5 detail"/>
          <p:cNvSpPr txBox="1"/>
          <p:nvPr/>
        </p:nvSpPr>
        <p:spPr>
          <a:xfrm>
            <a:off x="109728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for the outreach team, plus next steps</a:t>
            </a:r>
            <a:endParaRPr lang="en-US" sz="1200" dirty="0"/>
          </a:p>
        </p:txBody>
      </p:sp>
      <p:sp>
        <p:nvSpPr>
          <p:cNvPr id="23" name="framing card"/>
          <p:cNvSpPr/>
          <p:nvPr/>
        </p:nvSpPr>
        <p:spPr>
          <a:xfrm>
            <a:off x="5303520" y="1143000"/>
            <a:ext cx="338328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raming heading"/>
          <p:cNvSpPr txBox="1"/>
          <p:nvPr/>
        </p:nvSpPr>
        <p:spPr>
          <a:xfrm>
            <a:off x="55321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success is measured</a:t>
            </a:r>
            <a:endParaRPr lang="en-US" sz="1500" dirty="0"/>
          </a:p>
        </p:txBody>
      </p:sp>
      <p:sp>
        <p:nvSpPr>
          <p:cNvPr id="25" name="framing bullets"/>
          <p:cNvSpPr txBox="1"/>
          <p:nvPr/>
        </p:nvSpPr>
        <p:spPr>
          <a:xfrm>
            <a:off x="5532120" y="16916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can only call a small share of patients each month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matters is how many real high-risk patients sit near the top of the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outreach targets adults (18+)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Strokes are rare, and the data needed cleaning</a:t>
            </a:r>
            <a:endParaRPr lang="en-US" sz="2400" dirty="0"/>
          </a:p>
        </p:txBody>
      </p:sp>
      <p:sp>
        <p:nvSpPr>
          <p:cNvPr id="3" name="stroke rate card"/>
          <p:cNvSpPr/>
          <p:nvPr/>
        </p:nvSpPr>
        <p:spPr>
          <a:xfrm>
            <a:off x="457200" y="114300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roke rate value"/>
          <p:cNvSpPr txBox="1"/>
          <p:nvPr/>
        </p:nvSpPr>
        <p:spPr>
          <a:xfrm>
            <a:off x="640080" y="1252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4.9%</a:t>
            </a:r>
            <a:endParaRPr lang="en-US" sz="3000" dirty="0"/>
          </a:p>
        </p:txBody>
      </p:sp>
      <p:sp>
        <p:nvSpPr>
          <p:cNvPr id="5" name="stroke rate label"/>
          <p:cNvSpPr txBox="1"/>
          <p:nvPr/>
        </p:nvSpPr>
        <p:spPr>
          <a:xfrm>
            <a:off x="640080" y="1764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5,110 patients had a stroke</a:t>
            </a:r>
            <a:endParaRPr lang="en-US" sz="1100" dirty="0"/>
          </a:p>
        </p:txBody>
      </p:sp>
      <p:sp>
        <p:nvSpPr>
          <p:cNvPr id="6" name="accuracy note"/>
          <p:cNvSpPr txBox="1"/>
          <p:nvPr/>
        </p:nvSpPr>
        <p:spPr>
          <a:xfrm>
            <a:off x="457200" y="2331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"always no" model would be 95% accurate and find nobody, so accuracy is the wrong measure.</a:t>
            </a:r>
            <a:endParaRPr lang="en-US" sz="1300" dirty="0"/>
          </a:p>
        </p:txBody>
      </p:sp>
      <p:graphicFrame>
        <p:nvGraphicFramePr>
          <p:cNvPr id="4" name="clea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missing (201)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+ 'missing' flag; fill with training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Smoking "Unknown" (30%)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as a category (mostly children)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over 60 (13)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at 60, likely entry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"Other"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Remove; can't learn from one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Under-18s (856, 2 strokes)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Exclude; outside adult outreach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Checked: none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 is the strongest driver of stroke risk</a:t>
            </a:r>
            <a:endParaRPr lang="en-US" sz="2400" dirty="0"/>
          </a:p>
        </p:txBody>
      </p:sp>
      <p:pic>
        <p:nvPicPr>
          <p:cNvPr id="3" name="stroke by age chart" descr="C:\Users\bradj\Documents\DataScience\QuadaxTakeHome\figures\stroke_by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2743200"/>
          </a:xfrm>
          <a:prstGeom prst="rect">
            <a:avLst/>
          </a:prstGeom>
        </p:spPr>
      </p:pic>
      <p:sp>
        <p:nvSpPr>
          <p:cNvPr id="4" name="age70 rate card"/>
          <p:cNvSpPr/>
          <p:nvPr/>
        </p:nvSpPr>
        <p:spPr>
          <a:xfrm>
            <a:off x="6309360" y="109728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ge70 rate value"/>
          <p:cNvSpPr txBox="1"/>
          <p:nvPr/>
        </p:nvSpPr>
        <p:spPr>
          <a:xfrm>
            <a:off x="6492240" y="1207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</a:t>
            </a:r>
            <a:endParaRPr lang="en-US" sz="3000" dirty="0"/>
          </a:p>
        </p:txBody>
      </p:sp>
      <p:sp>
        <p:nvSpPr>
          <p:cNvPr id="6" name="age70 rate label"/>
          <p:cNvSpPr txBox="1"/>
          <p:nvPr/>
        </p:nvSpPr>
        <p:spPr>
          <a:xfrm>
            <a:off x="6492240" y="1719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rate for patients aged 70+</a:t>
            </a:r>
            <a:endParaRPr lang="en-US" sz="1100" dirty="0"/>
          </a:p>
        </p:txBody>
      </p:sp>
      <p:sp>
        <p:nvSpPr>
          <p:cNvPr id="7" name="age multiple card"/>
          <p:cNvSpPr/>
          <p:nvPr/>
        </p:nvSpPr>
        <p:spPr>
          <a:xfrm>
            <a:off x="6309360" y="233172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ge multiple value"/>
          <p:cNvSpPr txBox="1"/>
          <p:nvPr/>
        </p:nvSpPr>
        <p:spPr>
          <a:xfrm>
            <a:off x="6492240" y="2441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000" dirty="0"/>
          </a:p>
        </p:txBody>
      </p:sp>
      <p:sp>
        <p:nvSpPr>
          <p:cNvPr id="9" name="age multiple label"/>
          <p:cNvSpPr txBox="1"/>
          <p:nvPr/>
        </p:nvSpPr>
        <p:spPr>
          <a:xfrm>
            <a:off x="6492240" y="2953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adult average of 5.8%</a:t>
            </a:r>
            <a:endParaRPr lang="en-US" sz="1100" dirty="0"/>
          </a:p>
        </p:txBody>
      </p:sp>
      <p:sp>
        <p:nvSpPr>
          <p:cNvPr id="10" name="age takeaway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all strokes are in patients aged 60+.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Health conditions matter; some patterns are just age</a:t>
            </a:r>
            <a:endParaRPr lang="en-US" sz="2400" dirty="0"/>
          </a:p>
        </p:txBody>
      </p:sp>
      <p:pic>
        <p:nvPicPr>
          <p:cNvPr id="3" name="stroke by category chart" descr="C:\Users\bradj\Documents\DataScience\QuadaxTakeHome\figures\strok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394960" cy="2359152"/>
          </a:xfrm>
          <a:prstGeom prst="rect">
            <a:avLst/>
          </a:prstGeom>
        </p:spPr>
      </p:pic>
      <p:sp>
        <p:nvSpPr>
          <p:cNvPr id="4" name="chart caption"/>
          <p:cNvSpPr txBox="1"/>
          <p:nvPr/>
        </p:nvSpPr>
        <p:spPr>
          <a:xfrm>
            <a:off x="457200" y="3474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overall stroke rate</a:t>
            </a:r>
            <a:endParaRPr lang="en-US" sz="1000" dirty="0"/>
          </a:p>
        </p:txBody>
      </p:sp>
      <p:sp>
        <p:nvSpPr>
          <p:cNvPr id="5" name="findings card"/>
          <p:cNvSpPr/>
          <p:nvPr/>
        </p:nvSpPr>
        <p:spPr>
          <a:xfrm>
            <a:off x="6126480" y="105156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indings bullets"/>
          <p:cNvSpPr txBox="1"/>
          <p:nvPr/>
        </p:nvSpPr>
        <p:spPr>
          <a:xfrm>
            <a:off x="6309360" y="1207008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heart disease, high glucose: 2–3× the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BMI: 20% stroke rate vs 4%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residence, smoking: little difference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"Married" and "self-employed" look risky only because they're older (confounding)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More complex models didn't beat the simple one</a:t>
            </a:r>
            <a:endParaRPr lang="en-US" sz="2400" dirty="0"/>
          </a:p>
        </p:txBody>
      </p:sp>
      <p:graphicFrame>
        <p:nvGraphicFramePr>
          <p:cNvPr id="3" name="model comparison chart" descr=""/>
          <p:cNvGraphicFramePr/>
          <p:nvPr/>
        </p:nvGraphicFramePr>
        <p:xfrm>
          <a:off x="457200" y="105156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 auc note"/>
          <p:cNvSpPr txBox="1"/>
          <p:nvPr/>
        </p:nvSpPr>
        <p:spPr>
          <a:xfrm>
            <a:off x="45720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AUC: 0.23 / 0.22 / 0.23 (random = 0.06)</a:t>
            </a:r>
            <a:endParaRPr lang="en-US" sz="1100" dirty="0"/>
          </a:p>
        </p:txBody>
      </p:sp>
      <p:sp>
        <p:nvSpPr>
          <p:cNvPr id="5" name="comparison card"/>
          <p:cNvSpPr/>
          <p:nvPr/>
        </p:nvSpPr>
        <p:spPr>
          <a:xfrm>
            <a:off x="5760720" y="1051560"/>
            <a:ext cx="292608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mparison bullets"/>
          <p:cNvSpPr txBox="1"/>
          <p:nvPr/>
        </p:nvSpPr>
        <p:spPr>
          <a:xfrm>
            <a:off x="5943600" y="1207008"/>
            <a:ext cx="2606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smaller than the noise between folds: a tie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5-fold cross-validation; test set kept sealed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random forest overfit: 1.00 on training vs 0.77 on new patients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model types hitting the same ceiling suggests the limit is the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Recommended model: logistic regression</a:t>
            </a:r>
            <a:endParaRPr lang="en-US" sz="2400" dirty="0"/>
          </a:p>
        </p:txBody>
      </p:sp>
      <p:pic>
        <p:nvPicPr>
          <p:cNvPr id="3" name="coefficients chart" descr="C:\Users\bradj\Documents\DataScience\QuadaxTakeHome\figures\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206240" cy="3154680"/>
          </a:xfrm>
          <a:prstGeom prst="rect">
            <a:avLst/>
          </a:prstGeom>
        </p:spPr>
      </p:pic>
      <p:sp>
        <p:nvSpPr>
          <p:cNvPr id="4" name="test roc card"/>
          <p:cNvSpPr/>
          <p:nvPr/>
        </p:nvSpPr>
        <p:spPr>
          <a:xfrm>
            <a:off x="5029200" y="10515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 roc value"/>
          <p:cNvSpPr txBox="1"/>
          <p:nvPr/>
        </p:nvSpPr>
        <p:spPr>
          <a:xfrm>
            <a:off x="5212080" y="11612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000" dirty="0"/>
          </a:p>
        </p:txBody>
      </p:sp>
      <p:sp>
        <p:nvSpPr>
          <p:cNvPr id="6" name="test roc label"/>
          <p:cNvSpPr txBox="1"/>
          <p:nvPr/>
        </p:nvSpPr>
        <p:spPr>
          <a:xfrm>
            <a:off x="5212080" y="1673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on unseen test patients</a:t>
            </a:r>
            <a:endParaRPr lang="en-US" sz="1100" dirty="0"/>
          </a:p>
        </p:txBody>
      </p:sp>
      <p:sp>
        <p:nvSpPr>
          <p:cNvPr id="7" name="test pr card"/>
          <p:cNvSpPr/>
          <p:nvPr/>
        </p:nvSpPr>
        <p:spPr>
          <a:xfrm>
            <a:off x="6949440" y="10515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 pr value"/>
          <p:cNvSpPr txBox="1"/>
          <p:nvPr/>
        </p:nvSpPr>
        <p:spPr>
          <a:xfrm>
            <a:off x="7132320" y="11612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3000" dirty="0"/>
          </a:p>
        </p:txBody>
      </p:sp>
      <p:sp>
        <p:nvSpPr>
          <p:cNvPr id="9" name="test pr label"/>
          <p:cNvSpPr txBox="1"/>
          <p:nvPr/>
        </p:nvSpPr>
        <p:spPr>
          <a:xfrm>
            <a:off x="7132320" y="16733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random (PR AUC 0.23 vs 0.06)</a:t>
            </a:r>
            <a:endParaRPr lang="en-US" sz="1100" dirty="0"/>
          </a:p>
        </p:txBody>
      </p:sp>
      <p:sp>
        <p:nvSpPr>
          <p:cNvPr id="10" name="model reasons"/>
          <p:cNvSpPr txBox="1"/>
          <p:nvPr/>
        </p:nvSpPr>
        <p:spPr>
          <a:xfrm>
            <a:off x="5029200" y="2377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 age, missing BMI, hypertension, glucose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can see why a patient is flagged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run monthly and to maintain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Each extra call finds fewer stroke patients</a:t>
            </a:r>
            <a:endParaRPr lang="en-US" sz="2400" dirty="0"/>
          </a:p>
        </p:txBody>
      </p:sp>
      <p:pic>
        <p:nvPicPr>
          <p:cNvPr id="3" name="gains chart" descr="C:\Users\bradj\Documents\DataScience\QuadaxTakeHome\figures\gain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0" cy="2935224"/>
          </a:xfrm>
          <a:prstGeom prst="rect">
            <a:avLst/>
          </a:prstGeom>
        </p:spPr>
      </p:pic>
      <p:graphicFrame>
        <p:nvGraphicFramePr>
          <p:cNvPr id="4" name="diminishing returns chart" descr=""/>
          <p:cNvGraphicFramePr/>
          <p:nvPr/>
        </p:nvGraphicFramePr>
        <p:xfrm>
          <a:off x="4846320" y="105156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diminishing returns takeaway"/>
          <p:cNvSpPr txBox="1"/>
          <p:nvPr/>
        </p:nvSpPr>
        <p:spPr>
          <a:xfrm>
            <a:off x="484632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top ~20%, calls hit at the random rate (5.8%).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Call from the top down, up to about 20% of patients</a:t>
            </a:r>
            <a:endParaRPr lang="en-US" sz="2400" dirty="0"/>
          </a:p>
        </p:txBody>
      </p:sp>
      <p:graphicFrame>
        <p:nvGraphicFramePr>
          <p:cNvPr id="10" name="expec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09728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 top…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 patients reached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5–6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 caveat"/>
          <p:cNvSpPr txBox="1"/>
          <p:nvPr/>
        </p:nvSpPr>
        <p:spPr>
          <a:xfrm>
            <a:off x="45720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49 test-set strokes, so treat these as approximate.</a:t>
            </a:r>
            <a:endParaRPr lang="en-US" sz="1100" dirty="0"/>
          </a:p>
        </p:txBody>
      </p:sp>
      <p:sp>
        <p:nvSpPr>
          <p:cNvPr id="5" name="recommendation card"/>
          <p:cNvSpPr/>
          <p:nvPr/>
        </p:nvSpPr>
        <p:spPr>
          <a:xfrm>
            <a:off x="5943600" y="1097280"/>
            <a:ext cx="27432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recommendation heading"/>
          <p:cNvSpPr txBox="1"/>
          <p:nvPr/>
        </p:nvSpPr>
        <p:spPr>
          <a:xfrm>
            <a:off x="61264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500" dirty="0"/>
          </a:p>
        </p:txBody>
      </p:sp>
      <p:sp>
        <p:nvSpPr>
          <p:cNvPr id="7" name="recommendation bullets"/>
          <p:cNvSpPr txBox="1"/>
          <p:nvPr/>
        </p:nvSpPr>
        <p:spPr>
          <a:xfrm>
            <a:off x="6126480" y="164592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adult patients monthly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from the top down as far as capacity allows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around the top 20%, where the model stops adding value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capacity changes, move the cutoff. No retraining needed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Risks to check before launch</a:t>
            </a:r>
            <a:endParaRPr lang="en-US" sz="2400" dirty="0"/>
          </a:p>
        </p:txBody>
      </p:sp>
      <p:sp>
        <p:nvSpPr>
          <p:cNvPr id="3" name="risk 1 card"/>
          <p:cNvSpPr/>
          <p:nvPr/>
        </p:nvSpPr>
        <p:spPr>
          <a:xfrm>
            <a:off x="457200" y="114300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isk 1 heading"/>
          <p:cNvSpPr txBox="1"/>
          <p:nvPr/>
        </p:nvSpPr>
        <p:spPr>
          <a:xfrm>
            <a:off x="64008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leakage</a:t>
            </a:r>
            <a:endParaRPr lang="en-US" sz="1500" dirty="0"/>
          </a:p>
        </p:txBody>
      </p:sp>
      <p:sp>
        <p:nvSpPr>
          <p:cNvPr id="7" name="risk 1 detail"/>
          <p:cNvSpPr txBox="1"/>
          <p:nvPr/>
        </p:nvSpPr>
        <p:spPr>
          <a:xfrm>
            <a:off x="640080" y="22402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may be missing because of a stroke admission. Tested: without the flag, scores barely change (CV PR AUC 0.23 → 0.20).</a:t>
            </a:r>
            <a:endParaRPr lang="en-US" sz="1200" dirty="0"/>
          </a:p>
        </p:txBody>
      </p:sp>
      <p:sp>
        <p:nvSpPr>
          <p:cNvPr id="8" name="risk 2 card"/>
          <p:cNvSpPr/>
          <p:nvPr/>
        </p:nvSpPr>
        <p:spPr>
          <a:xfrm>
            <a:off x="3273552" y="114300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circle"/>
          <p:cNvSpPr/>
          <p:nvPr/>
        </p:nvSpPr>
        <p:spPr>
          <a:xfrm>
            <a:off x="3456432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345643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risk 2 heading"/>
          <p:cNvSpPr txBox="1"/>
          <p:nvPr/>
        </p:nvSpPr>
        <p:spPr>
          <a:xfrm>
            <a:off x="3456432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of the data</a:t>
            </a:r>
            <a:endParaRPr lang="en-US" sz="1500" dirty="0"/>
          </a:p>
        </p:txBody>
      </p:sp>
      <p:sp>
        <p:nvSpPr>
          <p:cNvPr id="12" name="risk 2 detail"/>
          <p:cNvSpPr txBox="1"/>
          <p:nvPr/>
        </p:nvSpPr>
        <p:spPr>
          <a:xfrm>
            <a:off x="3456432" y="22402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"had a stroke". We don't know whether features were recorded before or after it.</a:t>
            </a:r>
            <a:endParaRPr lang="en-US" sz="1200" dirty="0"/>
          </a:p>
        </p:txBody>
      </p:sp>
      <p:sp>
        <p:nvSpPr>
          <p:cNvPr id="13" name="risk 3 card"/>
          <p:cNvSpPr/>
          <p:nvPr/>
        </p:nvSpPr>
        <p:spPr>
          <a:xfrm>
            <a:off x="6089904" y="114300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3 circle"/>
          <p:cNvSpPr/>
          <p:nvPr/>
        </p:nvSpPr>
        <p:spPr>
          <a:xfrm>
            <a:off x="6272784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 number"/>
          <p:cNvSpPr txBox="1"/>
          <p:nvPr/>
        </p:nvSpPr>
        <p:spPr>
          <a:xfrm>
            <a:off x="627278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risk 3 heading"/>
          <p:cNvSpPr txBox="1"/>
          <p:nvPr/>
        </p:nvSpPr>
        <p:spPr>
          <a:xfrm>
            <a:off x="6272784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≠ prevention</a:t>
            </a:r>
            <a:endParaRPr lang="en-US" sz="1500" dirty="0"/>
          </a:p>
        </p:txBody>
      </p:sp>
      <p:sp>
        <p:nvSpPr>
          <p:cNvPr id="17" name="risk 3 detail"/>
          <p:cNvSpPr txBox="1"/>
          <p:nvPr/>
        </p:nvSpPr>
        <p:spPr>
          <a:xfrm>
            <a:off x="6272784" y="224028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finds high-risk patients. It doesn't prove that outreach prevents strokes.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king lot title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Parking lot: what I'd do with more time</a:t>
            </a:r>
            <a:endParaRPr lang="en-US" sz="2800" dirty="0"/>
          </a:p>
        </p:txBody>
      </p:sp>
      <p:sp>
        <p:nvSpPr>
          <p:cNvPr id="3" name="parking 1 card"/>
          <p:cNvSpPr/>
          <p:nvPr/>
        </p:nvSpPr>
        <p:spPr>
          <a:xfrm>
            <a:off x="548640" y="128016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parking 1 heading"/>
          <p:cNvSpPr txBox="1"/>
          <p:nvPr/>
        </p:nvSpPr>
        <p:spPr>
          <a:xfrm>
            <a:off x="731520" y="1444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clinical data</a:t>
            </a:r>
            <a:endParaRPr lang="en-US" sz="1500" dirty="0"/>
          </a:p>
        </p:txBody>
      </p:sp>
      <p:sp>
        <p:nvSpPr>
          <p:cNvPr id="5" name="parking 1 detail"/>
          <p:cNvSpPr txBox="1"/>
          <p:nvPr/>
        </p:nvSpPr>
        <p:spPr>
          <a:xfrm>
            <a:off x="731520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readings, atrial fibrillation, cholesterol, prior mini-strokes</a:t>
            </a:r>
            <a:endParaRPr lang="en-US" sz="1200" dirty="0"/>
          </a:p>
        </p:txBody>
      </p:sp>
      <p:sp>
        <p:nvSpPr>
          <p:cNvPr id="6" name="parking 2 card"/>
          <p:cNvSpPr/>
          <p:nvPr/>
        </p:nvSpPr>
        <p:spPr>
          <a:xfrm>
            <a:off x="3273552" y="128016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parking 2 heading"/>
          <p:cNvSpPr txBox="1"/>
          <p:nvPr/>
        </p:nvSpPr>
        <p:spPr>
          <a:xfrm>
            <a:off x="3456432" y="1444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timing</a:t>
            </a:r>
            <a:endParaRPr lang="en-US" sz="1500" dirty="0"/>
          </a:p>
        </p:txBody>
      </p:sp>
      <p:sp>
        <p:nvSpPr>
          <p:cNvPr id="8" name="parking 2 detail"/>
          <p:cNvSpPr txBox="1"/>
          <p:nvPr/>
        </p:nvSpPr>
        <p:spPr>
          <a:xfrm>
            <a:off x="3456432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data owner how BMI and other features are recorded</a:t>
            </a:r>
            <a:endParaRPr lang="en-US" sz="1200" dirty="0"/>
          </a:p>
        </p:txBody>
      </p:sp>
      <p:sp>
        <p:nvSpPr>
          <p:cNvPr id="9" name="parking 3 card"/>
          <p:cNvSpPr/>
          <p:nvPr/>
        </p:nvSpPr>
        <p:spPr>
          <a:xfrm>
            <a:off x="5998464" y="128016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parking 3 heading"/>
          <p:cNvSpPr txBox="1"/>
          <p:nvPr/>
        </p:nvSpPr>
        <p:spPr>
          <a:xfrm>
            <a:off x="6181344" y="14447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future</a:t>
            </a:r>
            <a:endParaRPr lang="en-US" sz="1500" dirty="0"/>
          </a:p>
        </p:txBody>
      </p:sp>
      <p:sp>
        <p:nvSpPr>
          <p:cNvPr id="11" name="parking 3 detail"/>
          <p:cNvSpPr txBox="1"/>
          <p:nvPr/>
        </p:nvSpPr>
        <p:spPr>
          <a:xfrm>
            <a:off x="6181344" y="1828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target as "stroke in the next X years"</a:t>
            </a:r>
            <a:endParaRPr lang="en-US" sz="1200" dirty="0"/>
          </a:p>
        </p:txBody>
      </p:sp>
      <p:sp>
        <p:nvSpPr>
          <p:cNvPr id="12" name="parking 4 card"/>
          <p:cNvSpPr/>
          <p:nvPr/>
        </p:nvSpPr>
        <p:spPr>
          <a:xfrm>
            <a:off x="548640" y="274320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parking 4 heading"/>
          <p:cNvSpPr txBox="1"/>
          <p:nvPr/>
        </p:nvSpPr>
        <p:spPr>
          <a:xfrm>
            <a:off x="731520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check</a:t>
            </a:r>
            <a:endParaRPr lang="en-US" sz="1500" dirty="0"/>
          </a:p>
        </p:txBody>
      </p:sp>
      <p:sp>
        <p:nvSpPr>
          <p:cNvPr id="14" name="parking 4 detail"/>
          <p:cNvSpPr txBox="1"/>
          <p:nvPr/>
        </p:nvSpPr>
        <p:spPr>
          <a:xfrm>
            <a:off x="731520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reach by gender, residence and age band</a:t>
            </a:r>
            <a:endParaRPr lang="en-US" sz="1200" dirty="0"/>
          </a:p>
        </p:txBody>
      </p:sp>
      <p:sp>
        <p:nvSpPr>
          <p:cNvPr id="15" name="parking 5 card"/>
          <p:cNvSpPr/>
          <p:nvPr/>
        </p:nvSpPr>
        <p:spPr>
          <a:xfrm>
            <a:off x="3273552" y="274320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parking 5 heading"/>
          <p:cNvSpPr txBox="1"/>
          <p:nvPr/>
        </p:nvSpPr>
        <p:spPr>
          <a:xfrm>
            <a:off x="3456432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7" name="parking 5 detail"/>
          <p:cNvSpPr txBox="1"/>
          <p:nvPr/>
        </p:nvSpPr>
        <p:spPr>
          <a:xfrm>
            <a:off x="3456432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risk %s before showing them to clinicians</a:t>
            </a:r>
            <a:endParaRPr lang="en-US" sz="1200" dirty="0"/>
          </a:p>
        </p:txBody>
      </p:sp>
      <p:sp>
        <p:nvSpPr>
          <p:cNvPr id="18" name="parking 6 card"/>
          <p:cNvSpPr/>
          <p:nvPr/>
        </p:nvSpPr>
        <p:spPr>
          <a:xfrm>
            <a:off x="5998464" y="2743200"/>
            <a:ext cx="2514600" cy="1234440"/>
          </a:xfrm>
          <a:prstGeom prst="roundRect">
            <a:avLst>
              <a:gd name="adj" fmla="val 5926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parking 6 heading"/>
          <p:cNvSpPr txBox="1"/>
          <p:nvPr/>
        </p:nvSpPr>
        <p:spPr>
          <a:xfrm>
            <a:off x="6181344" y="29077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monitor</a:t>
            </a:r>
            <a:endParaRPr lang="en-US" sz="1500" dirty="0"/>
          </a:p>
        </p:txBody>
      </p:sp>
      <p:sp>
        <p:nvSpPr>
          <p:cNvPr id="20" name="parking 6 detail"/>
          <p:cNvSpPr txBox="1"/>
          <p:nvPr/>
        </p:nvSpPr>
        <p:spPr>
          <a:xfrm>
            <a:off x="6181344" y="3291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outreach reduces strokes; watch for drift</a:t>
            </a:r>
            <a:endParaRPr lang="en-US" sz="12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oke Outreach">
  <a:themeElements>
    <a:clrScheme name="Stroke Outreach">
      <a:dk1>
        <a:srgbClr val="1B2A3A"/>
      </a:dk1>
      <a:lt1>
        <a:srgbClr val="FFFFFF"/>
      </a:lt1>
      <a:dk2>
        <a:srgbClr val="14324A"/>
      </a:dk2>
      <a:lt2>
        <a:srgbClr val="EEF3F8"/>
      </a:lt2>
      <a:accent1>
        <a:srgbClr val="2A78D6"/>
      </a:accent1>
      <a:accent2>
        <a:srgbClr val="E34948"/>
      </a:accent2>
      <a:accent3>
        <a:srgbClr val="1BAF7A"/>
      </a:accent3>
      <a:accent4>
        <a:srgbClr val="EDA100"/>
      </a:accent4>
      <a:accent5>
        <a:srgbClr val="52514E"/>
      </a:accent5>
      <a:accent6>
        <a:srgbClr val="8FB8E8"/>
      </a:accent6>
      <a:hlink>
        <a:srgbClr val="2A78D6"/>
      </a:hlink>
      <a:folHlink>
        <a:srgbClr val="4A3AA7"/>
      </a:folHlink>
    </a:clrScheme>
    <a:fontScheme name="Stroke Outrea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Risk Outreach Model</dc:title>
  <dc:subject>PptxGenJS Presentation</dc:subject>
  <dc:creator>PptxGenJS</dc:creator>
  <cp:lastModifiedBy>PptxGenJS</cp:lastModifiedBy>
  <cp:revision>1</cp:revision>
  <dcterms:created xsi:type="dcterms:W3CDTF">2026-10-16T03:58:35Z</dcterms:created>
  <dcterms:modified xsi:type="dcterms:W3CDTF">2026-10-16T03:58:35Z</dcterms:modified>
</cp:coreProperties>
</file>